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766560" cy="10287000"/>
          </a:xfrm>
          <a:prstGeom prst="rect">
            <a:avLst/>
          </a:prstGeom>
          <a:solidFill>
            <a:srgbClr val="005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spc="240">
                <a:solidFill>
                  <a:srgbClr val="009688"/>
                </a:solidFill>
                <a:latin typeface="Arial"/>
              </a:rPr>
              <a:t>EURONEXT 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40">
                <a:solidFill>
                  <a:srgbClr val="E0F5F2"/>
                </a:solidFill>
                <a:latin typeface="Arial"/>
              </a:rPr>
              <a:t>INFORMATION SECURITY ASSURANCE  ·  TPRM</a:t>
            </a:r>
          </a:p>
        </p:txBody>
      </p:sp>
      <p:sp>
        <p:nvSpPr>
          <p:cNvPr id="6" name="ReportTitle"/>
          <p:cNvSpPr txBox="1"/>
          <p:nvPr/>
        </p:nvSpPr>
        <p:spPr>
          <a:xfrm>
            <a:off x="1005840" y="3154680"/>
            <a:ext cx="11430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rial"/>
              </a:rPr>
              <a:t>{{REPORT_TITLE}}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440680"/>
            <a:ext cx="11887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9688"/>
                </a:solidFill>
                <a:latin typeface="Arial"/>
              </a:rPr>
              <a:t>{{VENDOR_NAME}}</a:t>
            </a:r>
            <a:r>
              <a:rPr sz="1800" b="0">
                <a:solidFill>
                  <a:srgbClr val="E0F5F2"/>
                </a:solidFill>
                <a:latin typeface="Arial"/>
              </a:rPr>
              <a:t>   ·   Assessment {{ASSESSMENT_ID}}   ·   {{ASSESSMENT_DATE}}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11887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rial"/>
              </a:rPr>
              <a:t>{{TEMPLATE_NAME}}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68580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 6"/>
          <p:cNvSpPr txBox="1"/>
          <p:nvPr/>
        </p:nvSpPr>
        <p:spPr>
          <a:xfrm>
            <a:off x="1005840" y="6871716"/>
            <a:ext cx="3246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{{DORA_BADGE}}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68580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005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 10"/>
          <p:cNvSpPr txBox="1"/>
          <p:nvPr/>
        </p:nvSpPr>
        <p:spPr>
          <a:xfrm>
            <a:off x="4480560" y="6871716"/>
            <a:ext cx="3246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{{CERT_BADGE}}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685800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 12"/>
          <p:cNvSpPr txBox="1"/>
          <p:nvPr/>
        </p:nvSpPr>
        <p:spPr>
          <a:xfrm>
            <a:off x="7955279" y="6871716"/>
            <a:ext cx="3246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{{APPROVAL_BADGE}}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7589520"/>
            <a:ext cx="3246120" cy="5669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 14b"/>
          <p:cNvSpPr txBox="1"/>
          <p:nvPr/>
        </p:nvSpPr>
        <p:spPr>
          <a:xfrm>
            <a:off x="1005840" y="7603236"/>
            <a:ext cx="3246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OVERALL RISK  {{OVERALL_RISK}}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8869680"/>
            <a:ext cx="1234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0F5F2"/>
                </a:solidFill>
                <a:latin typeface="Arial"/>
              </a:rPr>
              <a:t>Prepared by {{PREPARED_BY}}   ·   {{MEETING_NAME}}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9235440"/>
            <a:ext cx="1234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{{CONFIDENTIALITY}}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0" y="91897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" b="1" spc="220">
                <a:solidFill>
                  <a:srgbClr val="FFFFFF"/>
                </a:solidFill>
                <a:latin typeface="Arial"/>
              </a:rPr>
              <a:t>EURONEXT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91440" cy="96012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463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30"/>
                </a:solidFill>
                <a:latin typeface="Arial"/>
              </a:rPr>
              <a:t>Assessment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463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Arial"/>
              </a:rPr>
              <a:t>Third-Party Risk Assessment — {{VENDOR_NAME}}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728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D71"/>
                </a:solidFill>
                <a:latin typeface="Arial"/>
              </a:rPr>
              <a:t>SUPPLIER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341985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64008" cy="1234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468880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VENDOR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88920"/>
            <a:ext cx="3054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{{VENDOR_NAME}}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8496" y="2331720"/>
            <a:ext cx="341985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68496" y="2331720"/>
            <a:ext cx="64008" cy="1234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9663" y="2468880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SUPPLIER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9663" y="2788920"/>
            <a:ext cx="3054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{{SUPPLIER_TYPE}}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34072" y="2331720"/>
            <a:ext cx="341985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34072" y="2331720"/>
            <a:ext cx="64008" cy="1234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468880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SERVICE CRITICALITY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788920"/>
            <a:ext cx="3054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{{SERVICE_CRITICALITY}}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99648" y="2331720"/>
            <a:ext cx="341985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99648" y="2331720"/>
            <a:ext cx="64008" cy="1234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00816" y="2468880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DORA SCOPE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11100816" y="2788920"/>
            <a:ext cx="3054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Arial"/>
              </a:rPr>
              <a:t>{{DORA_SCOPE}}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365224" y="2331720"/>
            <a:ext cx="341985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365224" y="2331720"/>
            <a:ext cx="64008" cy="1234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566392" y="2468880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ASSESSMENT RESULT</a:t>
            </a:r>
          </a:p>
        </p:txBody>
      </p:sp>
      <p:sp>
        <p:nvSpPr>
          <p:cNvPr id="25" name="Text 32"/>
          <p:cNvSpPr txBox="1"/>
          <p:nvPr/>
        </p:nvSpPr>
        <p:spPr>
          <a:xfrm>
            <a:off x="14566392" y="2788920"/>
            <a:ext cx="3054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D97706"/>
                </a:solidFill>
                <a:latin typeface="Arial"/>
              </a:rPr>
              <a:t>{{APPROVAL_STATUS}}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977639"/>
            <a:ext cx="1728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D71"/>
                </a:solidFill>
                <a:latin typeface="Arial"/>
              </a:rPr>
              <a:t>ASSESSMENT METADATA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708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Organisation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37083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rial"/>
              </a:rPr>
              <a:t>{{ORGANISATION}}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280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Critical Supplier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82803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rial"/>
              </a:rPr>
              <a:t>{{CRITICAL_SUPPLIER}}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852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Date Created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28523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rial"/>
              </a:rPr>
              <a:t>{{DATE_CREATED}}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3708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Date 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437083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rial"/>
              </a:rPr>
              <a:t>{{DATE_COMPLETED}}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8280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Infosec Analyst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482803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rial"/>
              </a:rPr>
              <a:t>{{INFOSEC_ANALYST}}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2852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Infosec Manager</a:t>
            </a:r>
          </a:p>
        </p:txBody>
      </p:sp>
      <p:sp>
        <p:nvSpPr>
          <p:cNvPr id="38" name="Text 60"/>
          <p:cNvSpPr txBox="1"/>
          <p:nvPr/>
        </p:nvSpPr>
        <p:spPr>
          <a:xfrm>
            <a:off x="11612880" y="528523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Arial"/>
              </a:rPr>
              <a:t>{{INFOSEC_MANAGER}}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943600"/>
            <a:ext cx="1728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D71"/>
                </a:solidFill>
                <a:latin typeface="Arial"/>
              </a:rPr>
              <a:t>KEY FINDINGS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6355080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3367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07D71"/>
                </a:solidFill>
                <a:latin typeface="Arial"/>
              </a:rPr>
              <a:t>1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097280" y="6245352"/>
            <a:ext cx="16459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334155"/>
                </a:solidFill>
                <a:latin typeface="Arial"/>
              </a:rPr>
              <a:t>{{FINDING_1}}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7315200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72969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07D71"/>
                </a:solidFill>
                <a:latin typeface="Arial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7205472"/>
            <a:ext cx="16459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334155"/>
                </a:solidFill>
                <a:latin typeface="Arial"/>
              </a:rPr>
              <a:t>{{FINDING_2}}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8275320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82570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07D71"/>
                </a:solidFill>
                <a:latin typeface="Arial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8165592"/>
            <a:ext cx="16459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334155"/>
                </a:solidFill>
                <a:latin typeface="Arial"/>
              </a:rPr>
              <a:t>{{FINDING_3}}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97109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D71"/>
                </a:solidFill>
                <a:latin typeface="Arial"/>
              </a:rPr>
              <a:t>EURONEXT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974750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TPRM Executive Summary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99303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AA520"/>
                </a:solidFill>
                <a:latin typeface="Arial"/>
              </a:rPr>
              <a:t>PRIVATE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007840" y="974750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7D7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91440" cy="96012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463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30"/>
                </a:solidFill>
                <a:latin typeface="Arial"/>
              </a:rPr>
              <a:t>TPRM 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3419856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419856" cy="91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700784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OVERALL RISK</a:t>
            </a:r>
          </a:p>
        </p:txBody>
      </p:sp>
      <p:sp>
        <p:nvSpPr>
          <p:cNvPr id="7" name="Text 13"/>
          <p:cNvSpPr txBox="1"/>
          <p:nvPr/>
        </p:nvSpPr>
        <p:spPr>
          <a:xfrm>
            <a:off x="704088" y="2048256"/>
            <a:ext cx="3054096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7D71"/>
                </a:solidFill>
                <a:latin typeface="Arial"/>
              </a:rPr>
              <a:t>{{KPI_OVERALL}}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615184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{{KPI_OVERALL_SUB}}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8496" y="1508760"/>
            <a:ext cx="3419856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68496" y="1508760"/>
            <a:ext cx="3419856" cy="91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3" y="1700784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TOTAL RISKS</a:t>
            </a:r>
          </a:p>
        </p:txBody>
      </p:sp>
      <p:sp>
        <p:nvSpPr>
          <p:cNvPr id="12" name="Text 14"/>
          <p:cNvSpPr txBox="1"/>
          <p:nvPr/>
        </p:nvSpPr>
        <p:spPr>
          <a:xfrm>
            <a:off x="4169663" y="2048256"/>
            <a:ext cx="3054096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7D71"/>
                </a:solidFill>
                <a:latin typeface="Arial"/>
              </a:rPr>
              <a:t>{{KPI_TOTAL}}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9663" y="2615184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{{KPI_TOTAL_SUB}}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34072" y="1508760"/>
            <a:ext cx="3419856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34072" y="1508760"/>
            <a:ext cx="3419856" cy="91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700784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TREATED / IN TREAT.</a:t>
            </a:r>
          </a:p>
        </p:txBody>
      </p:sp>
      <p:sp>
        <p:nvSpPr>
          <p:cNvPr id="17" name="Text 21"/>
          <p:cNvSpPr txBox="1"/>
          <p:nvPr/>
        </p:nvSpPr>
        <p:spPr>
          <a:xfrm>
            <a:off x="7635240" y="2048256"/>
            <a:ext cx="3054096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7D71"/>
                </a:solidFill>
                <a:latin typeface="Arial"/>
              </a:rPr>
              <a:t>{{KPI_TREATED}}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615184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{{KPI_TREATED_SUB}}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99648" y="1508760"/>
            <a:ext cx="3419856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99648" y="1508760"/>
            <a:ext cx="3419856" cy="91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00816" y="1700784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EURONEXT CONTROLS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1100816" y="2048256"/>
            <a:ext cx="3054096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7D71"/>
                </a:solidFill>
                <a:latin typeface="Arial"/>
              </a:rPr>
              <a:t>{{KPI_CONTROLS}}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0816" y="2615184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{{KPI_CONTROLS_SUB}}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365224" y="1508760"/>
            <a:ext cx="3419856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365224" y="1508760"/>
            <a:ext cx="3419856" cy="9144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566392" y="1700784"/>
            <a:ext cx="3054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spc="80">
                <a:solidFill>
                  <a:srgbClr val="64748B"/>
                </a:solidFill>
                <a:latin typeface="Arial"/>
              </a:rPr>
              <a:t>CERTIFICATION</a:t>
            </a:r>
          </a:p>
        </p:txBody>
      </p:sp>
      <p:sp>
        <p:nvSpPr>
          <p:cNvPr id="27" name="Text 41"/>
          <p:cNvSpPr txBox="1"/>
          <p:nvPr/>
        </p:nvSpPr>
        <p:spPr>
          <a:xfrm>
            <a:off x="14566392" y="2048256"/>
            <a:ext cx="3054096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7D71"/>
                </a:solidFill>
                <a:latin typeface="Arial"/>
              </a:rPr>
              <a:t>{{KPI_CERT}}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66392" y="2615184"/>
            <a:ext cx="3054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{{KPI_CERT_SUB}}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337560"/>
            <a:ext cx="1728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D71"/>
                </a:solidFill>
                <a:latin typeface="Arial"/>
              </a:rPr>
              <a:t>RISK PROFILE — 5 DOMAINS</a:t>
            </a:r>
          </a:p>
        </p:txBody>
      </p:sp>
      <p:sp>
        <p:nvSpPr>
          <p:cNvPr id="30" name="SpiderPlaceholder"/>
          <p:cNvSpPr/>
          <p:nvPr/>
        </p:nvSpPr>
        <p:spPr>
          <a:xfrm>
            <a:off x="850392" y="3758184"/>
            <a:ext cx="4764024" cy="4572000"/>
          </a:xfrm>
          <a:prstGeom prst="rect">
            <a:avLst/>
          </a:prstGeom>
          <a:solidFill>
            <a:srgbClr val="F0FAF8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5669280"/>
            <a:ext cx="476402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{{SPIDER_CHART}}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6263640"/>
            <a:ext cx="4764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pentagon radar — swapped by renderer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3758184"/>
            <a:ext cx="580644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904488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D71"/>
                </a:solidFill>
                <a:latin typeface="Arial"/>
              </a:rPr>
              <a:t>SUPPLIER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306824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306824"/>
            <a:ext cx="35204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rial"/>
              </a:rPr>
              <a:t>{{VENDOR_NAME}}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62229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622292"/>
            <a:ext cx="35204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rial"/>
              </a:rPr>
              <a:t>{{SUPPLIER_TYPE}}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937760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Organisation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937760"/>
            <a:ext cx="35204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rial"/>
              </a:rPr>
              <a:t>{{ORGANISATION}}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253228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Criticality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253228"/>
            <a:ext cx="35204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rial"/>
              </a:rPr>
              <a:t>{{SERVICE_CRITICALITY}}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568696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DORA 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568696"/>
            <a:ext cx="35204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rial"/>
              </a:rPr>
              <a:t>{{DORA_SCOPE}}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884164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Certification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884164"/>
            <a:ext cx="35204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rial"/>
              </a:rPr>
              <a:t>{{CERT_SUMMARY}}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6199631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Analyst / Manager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6199631"/>
            <a:ext cx="35204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rial"/>
              </a:rPr>
              <a:t>{{REVIEW_SUMMARY}}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024360" y="3758184"/>
            <a:ext cx="57607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252960" y="390448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7D71"/>
                </a:solidFill>
                <a:latin typeface="Arial"/>
              </a:rPr>
              <a:t>DOMAIN SCORE BARS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52960" y="4416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Arial"/>
              </a:rPr>
              <a:t>Cybersecurity</a:t>
            </a:r>
          </a:p>
        </p:txBody>
      </p:sp>
      <p:sp>
        <p:nvSpPr>
          <p:cNvPr id="52" name="Score_1"/>
          <p:cNvSpPr txBox="1"/>
          <p:nvPr/>
        </p:nvSpPr>
        <p:spPr>
          <a:xfrm>
            <a:off x="15041880" y="441655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D97706"/>
                </a:solidFill>
                <a:latin typeface="Arial"/>
              </a:rPr>
              <a:t>{{DOM1_SCORE}}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252960" y="4718304"/>
            <a:ext cx="3291840" cy="2377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Bar_1"/>
          <p:cNvSpPr/>
          <p:nvPr/>
        </p:nvSpPr>
        <p:spPr>
          <a:xfrm>
            <a:off x="12252960" y="4718304"/>
            <a:ext cx="1053388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5727680" y="4709160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 60"/>
          <p:cNvSpPr txBox="1"/>
          <p:nvPr/>
        </p:nvSpPr>
        <p:spPr>
          <a:xfrm>
            <a:off x="15727680" y="4722876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Arial"/>
              </a:rPr>
              <a:t>{{DOM1_STAGE}}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252960" y="51663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Arial"/>
              </a:rPr>
              <a:t>Data Management</a:t>
            </a:r>
          </a:p>
        </p:txBody>
      </p:sp>
      <p:sp>
        <p:nvSpPr>
          <p:cNvPr id="58" name="Score_2"/>
          <p:cNvSpPr txBox="1"/>
          <p:nvPr/>
        </p:nvSpPr>
        <p:spPr>
          <a:xfrm>
            <a:off x="15041880" y="516636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D97706"/>
                </a:solidFill>
                <a:latin typeface="Arial"/>
              </a:rPr>
              <a:t>{{DOM2_SCORE}}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252960" y="5468112"/>
            <a:ext cx="3291840" cy="2377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ar_2"/>
          <p:cNvSpPr/>
          <p:nvPr/>
        </p:nvSpPr>
        <p:spPr>
          <a:xfrm>
            <a:off x="12252960" y="5468112"/>
            <a:ext cx="1053388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5727680" y="545896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 66"/>
          <p:cNvSpPr txBox="1"/>
          <p:nvPr/>
        </p:nvSpPr>
        <p:spPr>
          <a:xfrm>
            <a:off x="15727680" y="5472684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Arial"/>
              </a:rPr>
              <a:t>{{DOM2_STAGE}}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52960" y="591616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Arial"/>
              </a:rPr>
              <a:t>IT</a:t>
            </a:r>
          </a:p>
        </p:txBody>
      </p:sp>
      <p:sp>
        <p:nvSpPr>
          <p:cNvPr id="64" name="Score_3"/>
          <p:cNvSpPr txBox="1"/>
          <p:nvPr/>
        </p:nvSpPr>
        <p:spPr>
          <a:xfrm>
            <a:off x="15041880" y="5916168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D97706"/>
                </a:solidFill>
                <a:latin typeface="Arial"/>
              </a:rPr>
              <a:t>{{DOM3_SCORE}}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252960" y="6217920"/>
            <a:ext cx="3291840" cy="2377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ar_3"/>
          <p:cNvSpPr/>
          <p:nvPr/>
        </p:nvSpPr>
        <p:spPr>
          <a:xfrm>
            <a:off x="12252960" y="6217920"/>
            <a:ext cx="1053388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5727680" y="620877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 72"/>
          <p:cNvSpPr txBox="1"/>
          <p:nvPr/>
        </p:nvSpPr>
        <p:spPr>
          <a:xfrm>
            <a:off x="15727680" y="6222492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Arial"/>
              </a:rPr>
              <a:t>{{DOM3_STAGE}}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252960" y="66659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Arial"/>
              </a:rPr>
              <a:t>Business Continuity</a:t>
            </a:r>
          </a:p>
        </p:txBody>
      </p:sp>
      <p:sp>
        <p:nvSpPr>
          <p:cNvPr id="70" name="Score_4"/>
          <p:cNvSpPr txBox="1"/>
          <p:nvPr/>
        </p:nvSpPr>
        <p:spPr>
          <a:xfrm>
            <a:off x="15041880" y="666597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D97706"/>
                </a:solidFill>
                <a:latin typeface="Arial"/>
              </a:rPr>
              <a:t>{{DOM4_SCORE}}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252960" y="6967728"/>
            <a:ext cx="3291840" cy="2377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Bar_4"/>
          <p:cNvSpPr/>
          <p:nvPr/>
        </p:nvSpPr>
        <p:spPr>
          <a:xfrm>
            <a:off x="12252960" y="6967728"/>
            <a:ext cx="1053388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5727680" y="695858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 78"/>
          <p:cNvSpPr txBox="1"/>
          <p:nvPr/>
        </p:nvSpPr>
        <p:spPr>
          <a:xfrm>
            <a:off x="15727680" y="6972300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Arial"/>
              </a:rPr>
              <a:t>{{DOM4_STAGE}}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252960" y="7415783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Arial"/>
              </a:rPr>
              <a:t>Third-Parties</a:t>
            </a:r>
          </a:p>
        </p:txBody>
      </p:sp>
      <p:sp>
        <p:nvSpPr>
          <p:cNvPr id="76" name="Score_5"/>
          <p:cNvSpPr txBox="1"/>
          <p:nvPr/>
        </p:nvSpPr>
        <p:spPr>
          <a:xfrm>
            <a:off x="15041880" y="741578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D97706"/>
                </a:solidFill>
                <a:latin typeface="Arial"/>
              </a:rPr>
              <a:t>{{DOM5_SCORE}}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2252960" y="7717536"/>
            <a:ext cx="3291840" cy="23774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Bar_5"/>
          <p:cNvSpPr/>
          <p:nvPr/>
        </p:nvSpPr>
        <p:spPr>
          <a:xfrm>
            <a:off x="12252960" y="7717536"/>
            <a:ext cx="1053388" cy="237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5727680" y="7708392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 84"/>
          <p:cNvSpPr txBox="1"/>
          <p:nvPr/>
        </p:nvSpPr>
        <p:spPr>
          <a:xfrm>
            <a:off x="15727680" y="7722108"/>
            <a:ext cx="1691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Arial"/>
              </a:rPr>
              <a:t>{{DOM5_STAGE}}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97109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D71"/>
                </a:solidFill>
                <a:latin typeface="Arial"/>
              </a:rPr>
              <a:t>EURONEXT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3600" y="974750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TPRM Executive Summary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29600" y="99303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AA520"/>
                </a:solidFill>
                <a:latin typeface="Arial"/>
              </a:rPr>
              <a:t>PRIVATE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007840" y="974750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7D7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91440" cy="96012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463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30"/>
                </a:solidFill>
                <a:latin typeface="Arial"/>
              </a:rPr>
              <a:t>Open Risk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7282160" cy="658368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82296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 5"/>
          <p:cNvSpPr txBox="1"/>
          <p:nvPr/>
        </p:nvSpPr>
        <p:spPr>
          <a:xfrm>
            <a:off x="731520" y="1371600"/>
            <a:ext cx="1682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92400E"/>
                </a:solidFill>
                <a:latin typeface="Arial"/>
              </a:rPr>
              <a:t>{{PROXY_DISCLOSURE}}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728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D71"/>
                </a:solidFill>
                <a:latin typeface="Arial"/>
              </a:rPr>
              <a:t>INHERENT RISK RATIONALE</a:t>
            </a:r>
          </a:p>
        </p:txBody>
      </p:sp>
      <p:sp>
        <p:nvSpPr>
          <p:cNvPr id="8" name="InherentRationale"/>
          <p:cNvSpPr txBox="1"/>
          <p:nvPr/>
        </p:nvSpPr>
        <p:spPr>
          <a:xfrm>
            <a:off x="502920" y="2578608"/>
            <a:ext cx="1728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334155"/>
                </a:solidFill>
                <a:latin typeface="Arial"/>
              </a:rPr>
              <a:t>{{INHERENT_RATIONALE}}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728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D71"/>
                </a:solidFill>
                <a:latin typeface="Arial"/>
              </a:rPr>
              <a:t>RISK REGISTER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858768"/>
          <a:ext cx="17282159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6675120"/>
                <a:gridCol w="1874519"/>
                <a:gridCol w="2103120"/>
                <a:gridCol w="1188720"/>
                <a:gridCol w="1188720"/>
                <a:gridCol w="109728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Risk Description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Inherent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Residual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{{R01_ID}}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{{R01_DESC}}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{{R01_CAT}}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{{R01_DOMAIN}}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{{R01_INH}}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{{R01_RES}}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{{R01_TGT}}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{{R01_STAGE}}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{{R02_ID}}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{{R02_DESC}}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{{R02_CAT}}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{{R02_DOMAIN}}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{{R02_INH}}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{{R02_RES}}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{{R02_TGT}}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{{R02_STAGE}}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{{R03_ID}}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{{R03_DESC}}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{{R03_CAT}}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{{R03_DOMAIN}}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{{R03_INH}}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{{R03_RES}}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{{R03_TGT}}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{{R03_STAGE}}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{{R04_ID}}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{{R04_DESC}}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{{R04_CAT}}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{{R04_DOMAIN}}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{{R04_INH}}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{{R04_RES}}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{{R04_TGT}}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{{R04_STAGE}}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{{R05_ID}}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{{R05_DESC}}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{{R05_CAT}}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{{R05_DOMAIN}}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{{R05_INH}}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{{R05_RES}}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{{R05_TGT}}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{{R05_STAGE}}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{{R06_ID}}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{{R06_DESC}}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{{R06_CAT}}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{{R06_DOMAIN}}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{{R06_INH}}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{{R06_RES}}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{{R06_TGT}}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{{R06_STAGE}}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{{R07_ID}}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{{R07_DESC}}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{{R07_CAT}}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{{R07_DOMAIN}}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{{R07_INH}}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{{R07_RES}}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{{R07_TGT}}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{{R07_STAGE}}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{{R08_ID}}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{{R08_DESC}}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{{R08_CAT}}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{{R08_DOMAIN}}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{{R08_INH}}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{{R08_RES}}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{{R08_TGT}}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{{R08_STAGE}}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{{R09_ID}}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{{R09_DESC}}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{{R09_CAT}}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{{R09_DOMAIN}}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{{R09_INH}}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{{R09_RES}}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{{R09_TGT}}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{{R09_STAGE}}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{{R10_ID}}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{{R10_DESC}}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{{R10_CAT}}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{{R10_DOMAIN}}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{{R10_INH}}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{{R10_RES}}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{{R10_TGT}}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{{R10_STAGE}}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{{R11_ID}}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{{R11_DESC}}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{{R11_CAT}}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{{R11_DOMAIN}}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{{R11_INH}}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{{R11_RES}}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{{R11_TGT}}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{{R11_STAGE}}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{{R12_ID}}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{{R12_DESC}}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{{R12_CAT}}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{{R12_DOMAIN}}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{{R12_INH}}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{{R12_RES}}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{{R12_TGT}}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{{R12_STAGE}}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{{R13_ID}}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{{R13_DESC}}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{{R13_CAT}}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{{R13_DOMAIN}}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{{R13_INH}}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{{R13_RES}}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{{R13_TGT}}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{{R13_STAGE}}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{{R14_ID}}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{{R14_DESC}}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{{R14_CAT}}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{{R14_DOMAIN}}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{{R14_INH}}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{{R14_RES}}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{{R14_TGT}}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{{R14_STAGE}}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{{R15_ID}}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{{R15_DESC}}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{{R15_CAT}}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{{R15_DOMAIN}}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{{R15_INH}}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{{R15_RES}}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{{R15_TGT}}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{{R15_STAGE}}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7D71"/>
                          </a:solidFill>
                          <a:latin typeface="Arial"/>
                        </a:rPr>
                        <a:t>{{R16_ID}}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Arial"/>
                        </a:rPr>
                        <a:t>{{R16_DESC}}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{{R16_CAT}}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34155"/>
                          </a:solidFill>
                          <a:latin typeface="Arial"/>
                        </a:rPr>
                        <a:t>{{R16_DOMAIN}}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{{R16_INH}}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{{R16_RES}}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7D71"/>
                          </a:solidFill>
                          <a:latin typeface="Arial"/>
                        </a:rPr>
                        <a:t>{{R16_TGT}}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D97706"/>
                          </a:solidFill>
                          <a:latin typeface="Arial"/>
                        </a:rPr>
                        <a:t>{{R16_STAGE}}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97109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D71"/>
                </a:solidFill>
                <a:latin typeface="Arial"/>
              </a:rPr>
              <a:t>EURONEXT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974750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Open Risk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99303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AA520"/>
                </a:solidFill>
                <a:latin typeface="Arial"/>
              </a:rPr>
              <a:t>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0" y="974750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7D7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91440" cy="96012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463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30"/>
                </a:solidFill>
                <a:latin typeface="Arial"/>
              </a:rPr>
              <a:t>Mitigation Controls &amp; Perimeter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728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D71"/>
                </a:solidFill>
                <a:latin typeface="Arial"/>
              </a:rPr>
              <a:t>DUAL-PERIMETER MATRIX  —  5 DOMAINS x 2 PERIMETERS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83080"/>
          <a:ext cx="1728216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675120"/>
                <a:gridCol w="66751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External Perimeter (Vendor)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Internal Perimeter (Euronext)</a:t>
                      </a:r>
                    </a:p>
                  </a:txBody>
                  <a:tcPr marL="91440" marR="91440" marT="45720" marB="45720" anchor="ctr">
                    <a:solidFill>
                      <a:srgbClr val="00504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Cybersecurity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{{P1_EXTERNAL}}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{{P1_INTERNAL}}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Data Management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{{P2_EXTERNAL}}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{{P2_INTERNAL}}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{{P3_EXTERNAL}}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{{P3_INTERNAL}}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Business Continuity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{{P4_EXTERNAL}}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{{P4_INTERNAL}}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Arial"/>
                        </a:rPr>
                        <a:t>Third-Parties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{{P5_EXTERNAL}}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{{P5_INTERNAL}}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172200"/>
            <a:ext cx="17282160" cy="1417320"/>
          </a:xfrm>
          <a:prstGeom prst="rect">
            <a:avLst/>
          </a:prstGeom>
          <a:solidFill>
            <a:srgbClr val="F0FAF8"/>
          </a:solidFill>
          <a:ln w="12700">
            <a:solidFill>
              <a:srgbClr val="007D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72200"/>
            <a:ext cx="91440" cy="141732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318504"/>
            <a:ext cx="1664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7D71"/>
                </a:solidFill>
                <a:latin typeface="Arial"/>
              </a:rPr>
              <a:t>PERIMETER PATTERN ANALYSIS</a:t>
            </a:r>
          </a:p>
        </p:txBody>
      </p:sp>
      <p:sp>
        <p:nvSpPr>
          <p:cNvPr id="9" name="PerimeterCallout"/>
          <p:cNvSpPr txBox="1"/>
          <p:nvPr/>
        </p:nvSpPr>
        <p:spPr>
          <a:xfrm>
            <a:off x="777240" y="6647688"/>
            <a:ext cx="1664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334155"/>
                </a:solidFill>
                <a:latin typeface="Arial"/>
              </a:rPr>
              <a:t>{{PERIMETER_CALLOUT}}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7109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D71"/>
                </a:solidFill>
                <a:latin typeface="Arial"/>
              </a:rPr>
              <a:t>EURONEXT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974750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Mitigation Controls &amp; Perimeter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99303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AA520"/>
                </a:solidFill>
                <a:latin typeface="Arial"/>
              </a:rPr>
              <a:t>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0" y="974750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7D7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91440" cy="96012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463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30"/>
                </a:solidFill>
                <a:latin typeface="Arial"/>
              </a:rPr>
              <a:t>Critical Findings, DORA Status &amp; Recommended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7282160" cy="658368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 22"/>
          <p:cNvSpPr txBox="1"/>
          <p:nvPr/>
        </p:nvSpPr>
        <p:spPr>
          <a:xfrm>
            <a:off x="777240" y="1371600"/>
            <a:ext cx="16824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991B1B"/>
                </a:solidFill>
                <a:latin typeface="Arial"/>
              </a:rPr>
              <a:t>{{DORA_BANNER}}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728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D71"/>
                </a:solidFill>
                <a:latin typeface="Arial"/>
              </a:rPr>
              <a:t>CRITICAL FINDINGS</a:t>
            </a:r>
          </a:p>
        </p:txBody>
      </p:sp>
      <p:sp>
        <p:nvSpPr>
          <p:cNvPr id="8" name="F1_Icon"/>
          <p:cNvSpPr/>
          <p:nvPr/>
        </p:nvSpPr>
        <p:spPr>
          <a:xfrm>
            <a:off x="502920" y="269748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1_Glyph"/>
          <p:cNvSpPr txBox="1"/>
          <p:nvPr/>
        </p:nvSpPr>
        <p:spPr>
          <a:xfrm>
            <a:off x="502920" y="267004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07D71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679192"/>
            <a:ext cx="7726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{{F1_TITLE}}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664"/>
            <a:ext cx="772667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Arial"/>
              </a:rPr>
              <a:t>{{F1_BODY}}</a:t>
            </a:r>
          </a:p>
        </p:txBody>
      </p:sp>
      <p:sp>
        <p:nvSpPr>
          <p:cNvPr id="12" name="F2_Icon"/>
          <p:cNvSpPr/>
          <p:nvPr/>
        </p:nvSpPr>
        <p:spPr>
          <a:xfrm>
            <a:off x="502920" y="402336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2_Glyph"/>
          <p:cNvSpPr txBox="1"/>
          <p:nvPr/>
        </p:nvSpPr>
        <p:spPr>
          <a:xfrm>
            <a:off x="502920" y="399592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07D71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005072"/>
            <a:ext cx="7726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{{F2_TITLE}}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52544"/>
            <a:ext cx="772667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Arial"/>
              </a:rPr>
              <a:t>{{F2_BODY}}</a:t>
            </a:r>
          </a:p>
        </p:txBody>
      </p:sp>
      <p:sp>
        <p:nvSpPr>
          <p:cNvPr id="16" name="F3_Icon"/>
          <p:cNvSpPr/>
          <p:nvPr/>
        </p:nvSpPr>
        <p:spPr>
          <a:xfrm>
            <a:off x="502920" y="534924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3_Glyph"/>
          <p:cNvSpPr txBox="1"/>
          <p:nvPr/>
        </p:nvSpPr>
        <p:spPr>
          <a:xfrm>
            <a:off x="502920" y="5321807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07D71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30952"/>
            <a:ext cx="7726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{{F3_TITLE}}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678424"/>
            <a:ext cx="772667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Arial"/>
              </a:rPr>
              <a:t>{{F3_BODY}}</a:t>
            </a:r>
          </a:p>
        </p:txBody>
      </p:sp>
      <p:sp>
        <p:nvSpPr>
          <p:cNvPr id="20" name="F4_Icon"/>
          <p:cNvSpPr/>
          <p:nvPr/>
        </p:nvSpPr>
        <p:spPr>
          <a:xfrm>
            <a:off x="502920" y="66751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4_Glyph"/>
          <p:cNvSpPr txBox="1"/>
          <p:nvPr/>
        </p:nvSpPr>
        <p:spPr>
          <a:xfrm>
            <a:off x="502920" y="66476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47857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6656832"/>
            <a:ext cx="77266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{{F4_TITLE}}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7004304"/>
            <a:ext cx="772667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Arial"/>
              </a:rPr>
              <a:t>{{F4_BODY}}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86000"/>
            <a:ext cx="8458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D71"/>
                </a:solidFill>
                <a:latin typeface="Arial"/>
              </a:rPr>
              <a:t>DORA STATUS &amp; RECOMMENDED 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697480"/>
            <a:ext cx="845820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5480" y="283464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991B1B"/>
                </a:solidFill>
                <a:latin typeface="Arial"/>
              </a:rPr>
              <a:t>DORA — REGULATION (EU) 2022/2554</a:t>
            </a:r>
          </a:p>
        </p:txBody>
      </p:sp>
      <p:sp>
        <p:nvSpPr>
          <p:cNvPr id="27" name="DoraStatus"/>
          <p:cNvSpPr txBox="1"/>
          <p:nvPr/>
        </p:nvSpPr>
        <p:spPr>
          <a:xfrm>
            <a:off x="9555480" y="3163824"/>
            <a:ext cx="8046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91B1B"/>
                </a:solidFill>
                <a:latin typeface="Arial"/>
              </a:rPr>
              <a:t>{{DORA_STATUS}}</a:t>
            </a:r>
          </a:p>
        </p:txBody>
      </p:sp>
      <p:sp>
        <p:nvSpPr>
          <p:cNvPr id="28" name="Oval 27"/>
          <p:cNvSpPr/>
          <p:nvPr/>
        </p:nvSpPr>
        <p:spPr>
          <a:xfrm>
            <a:off x="9326880" y="4023360"/>
            <a:ext cx="502920" cy="502920"/>
          </a:xfrm>
          <a:prstGeom prst="ellipse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99592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404164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4055363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7D71"/>
                </a:solidFill>
                <a:latin typeface="Arial"/>
              </a:rPr>
              <a:t>{{A1_TIMELINE}}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2920" y="402336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4155"/>
                </a:solidFill>
                <a:latin typeface="Arial"/>
              </a:rPr>
              <a:t>{{A1_TEXT}}</a:t>
            </a:r>
          </a:p>
        </p:txBody>
      </p:sp>
      <p:sp>
        <p:nvSpPr>
          <p:cNvPr id="33" name="Oval 32"/>
          <p:cNvSpPr/>
          <p:nvPr/>
        </p:nvSpPr>
        <p:spPr>
          <a:xfrm>
            <a:off x="9326880" y="5047488"/>
            <a:ext cx="502920" cy="502920"/>
          </a:xfrm>
          <a:prstGeom prst="ellipse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502005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12680" y="5065776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5079492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7D71"/>
                </a:solidFill>
                <a:latin typeface="Arial"/>
              </a:rPr>
              <a:t>{{A2_TIMELINE}}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32920" y="5047488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4155"/>
                </a:solidFill>
                <a:latin typeface="Arial"/>
              </a:rPr>
              <a:t>{{A2_TEXT}}</a:t>
            </a:r>
          </a:p>
        </p:txBody>
      </p:sp>
      <p:sp>
        <p:nvSpPr>
          <p:cNvPr id="38" name="Oval 37"/>
          <p:cNvSpPr/>
          <p:nvPr/>
        </p:nvSpPr>
        <p:spPr>
          <a:xfrm>
            <a:off x="9326880" y="6071616"/>
            <a:ext cx="502920" cy="502920"/>
          </a:xfrm>
          <a:prstGeom prst="ellipse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60441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12680" y="60899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6103620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7D71"/>
                </a:solidFill>
                <a:latin typeface="Arial"/>
              </a:rPr>
              <a:t>{{A3_TIMELINE}}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932920" y="6071616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4155"/>
                </a:solidFill>
                <a:latin typeface="Arial"/>
              </a:rPr>
              <a:t>{{A3_TEXT}}</a:t>
            </a:r>
          </a:p>
        </p:txBody>
      </p:sp>
      <p:sp>
        <p:nvSpPr>
          <p:cNvPr id="43" name="Oval 42"/>
          <p:cNvSpPr/>
          <p:nvPr/>
        </p:nvSpPr>
        <p:spPr>
          <a:xfrm>
            <a:off x="9326880" y="7095744"/>
            <a:ext cx="502920" cy="502920"/>
          </a:xfrm>
          <a:prstGeom prst="ellipse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70683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12680" y="7114032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12680" y="7127748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7D71"/>
                </a:solidFill>
                <a:latin typeface="Arial"/>
              </a:rPr>
              <a:t>{{A4_TIMELINE}}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932920" y="7095744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4155"/>
                </a:solidFill>
                <a:latin typeface="Arial"/>
              </a:rPr>
              <a:t>{{A4_TEXT}}</a:t>
            </a:r>
          </a:p>
        </p:txBody>
      </p:sp>
      <p:sp>
        <p:nvSpPr>
          <p:cNvPr id="48" name="Oval 47"/>
          <p:cNvSpPr/>
          <p:nvPr/>
        </p:nvSpPr>
        <p:spPr>
          <a:xfrm>
            <a:off x="9326880" y="8119872"/>
            <a:ext cx="502920" cy="502920"/>
          </a:xfrm>
          <a:prstGeom prst="ellipse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80924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12680" y="81381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12680" y="8151876"/>
            <a:ext cx="1783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07D71"/>
                </a:solidFill>
                <a:latin typeface="Arial"/>
              </a:rPr>
              <a:t>{{A5_TIMELINE}}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932920" y="8119872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34155"/>
                </a:solidFill>
                <a:latin typeface="Arial"/>
              </a:rPr>
              <a:t>{{A5_TEXT}}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97109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D71"/>
                </a:solidFill>
                <a:latin typeface="Arial"/>
              </a:rPr>
              <a:t>EURONEXT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974750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Critical Findings, DORA &amp; Actions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99303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AA520"/>
                </a:solidFill>
                <a:latin typeface="Arial"/>
              </a:rPr>
              <a:t>PRIVATE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07840" y="974750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7D7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3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28016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singTitle"/>
          <p:cNvSpPr txBox="1"/>
          <p:nvPr/>
        </p:nvSpPr>
        <p:spPr>
          <a:xfrm>
            <a:off x="0" y="3657600"/>
            <a:ext cx="18288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Arial"/>
              </a:rPr>
              <a:t>{{CLOSING_TITLE}}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983480"/>
            <a:ext cx="12801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E0F5F2"/>
                </a:solidFill>
                <a:latin typeface="Arial"/>
              </a:rPr>
              <a:t>{{CLOSING_TEXT}}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955279"/>
            <a:ext cx="1828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spc="300">
                <a:solidFill>
                  <a:srgbClr val="009688"/>
                </a:solidFill>
                <a:latin typeface="Arial"/>
              </a:rPr>
              <a:t>EURONEXT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8549640"/>
            <a:ext cx="1828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Arial"/>
              </a:rPr>
              <a:t>Information Security Assurance  ·  Third-Party Risk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91440" cy="960120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4630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03530"/>
                </a:solidFill>
                <a:latin typeface="Arial"/>
              </a:rPr>
              <a:t>Disclaimer &amp; Confidentiality</a:t>
            </a:r>
          </a:p>
        </p:txBody>
      </p:sp>
      <p:sp>
        <p:nvSpPr>
          <p:cNvPr id="4" name="DisclaimerText"/>
          <p:cNvSpPr txBox="1"/>
          <p:nvPr/>
        </p:nvSpPr>
        <p:spPr>
          <a:xfrm>
            <a:off x="502920" y="1554480"/>
            <a:ext cx="17282160" cy="713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4155"/>
                </a:solidFill>
                <a:latin typeface="Arial"/>
              </a:rPr>
              <a:t>{{DISCLAIMER_TEXT}}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052560"/>
            <a:ext cx="17282160" cy="54864"/>
          </a:xfrm>
          <a:prstGeom prst="rect">
            <a:avLst/>
          </a:prstGeom>
          <a:solidFill>
            <a:srgbClr val="007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89720"/>
            <a:ext cx="1728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{{DISCLAIMER_FOOTER}}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7109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7D71"/>
                </a:solidFill>
                <a:latin typeface="Arial"/>
              </a:rPr>
              <a:t>EURONEXT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974750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rial"/>
              </a:rPr>
              <a:t>Disclaimer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99303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AA520"/>
                </a:solidFill>
                <a:latin typeface="Arial"/>
              </a:rPr>
              <a:t>PRIVATE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0" y="974750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007D71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